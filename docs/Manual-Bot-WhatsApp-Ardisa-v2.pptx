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99232"/>
            <a:ext cx="2011680" cy="73152"/>
          </a:xfrm>
          <a:prstGeom prst="roundRect">
            <a:avLst>
              <a:gd name="adj" fmla="val 6000"/>
            </a:avLst>
          </a:prstGeom>
          <a:solidFill>
            <a:srgbClr val="0E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C05C"/>
                </a:solidFill>
                <a:latin typeface="Segoe UI"/>
              </a:rPr>
              <a:t>GRUPO ARDISA · LÍNEA COMERCIAL WHATSAPP 316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Manual de usuario del bot y su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9DAD5"/>
                </a:solidFill>
                <a:latin typeface="Segoe UI"/>
              </a:rPr>
              <a:t>Versión 2 — agosto de 2026. Cubre el bot con inteligencia artificial (Fase 1 + Fase 2), el panel de conversaciones con el chat híbrido, el seguimiento de solicitudes, las alertas del vigilante y qué hacer cuando algo falla.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FA8A2"/>
                </a:solidFill>
                <a:latin typeface="Segoe UI"/>
              </a:rPr>
              <a:t>Preparado para el equipo de coordinación · Reemplaza el manual de la Fase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82420"/>
                </a:solidFill>
                <a:latin typeface="Segoe UI"/>
              </a:rPr>
              <a:t>1 · El sistema en un mapa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82420"/>
                </a:solidFill>
                <a:latin typeface="Segoe UI"/>
              </a:rPr>
              <a:t>2 · Panel de conversaciones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82420"/>
                </a:solidFill>
                <a:latin typeface="Segoe UI"/>
              </a:rPr>
              <a:t>3 · Chat híbrido: atender tú misma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82420"/>
                </a:solidFill>
                <a:latin typeface="Segoe UI"/>
              </a:rPr>
              <a:t>4 · Seguimiento de solicitudes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82420"/>
                </a:solidFill>
                <a:latin typeface="Segoe UI"/>
              </a:rPr>
              <a:t>5 · Tu panel por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82420"/>
                </a:solidFill>
                <a:latin typeface="Segoe UI"/>
              </a:rPr>
              <a:t>6 · Cómo reportan los asesores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82420"/>
                </a:solidFill>
                <a:latin typeface="Segoe UI"/>
              </a:rPr>
              <a:t>7 · Alertas del vigilante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82420"/>
                </a:solidFill>
                <a:latin typeface="Segoe UI"/>
              </a:rPr>
              <a:t>8 · Correos automáticos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82420"/>
                </a:solidFill>
                <a:latin typeface="Segoe UI"/>
              </a:rPr>
              <a:t>9 · Fase 2: la IA y SAP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82420"/>
                </a:solidFill>
                <a:latin typeface="Segoe UI"/>
              </a:rPr>
              <a:t>10 · Si algo falla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El sistema en un mapa</a:t>
            </a:r>
            <a:r>
              <a:rPr sz="1400" b="0">
                <a:solidFill>
                  <a:srgbClr val="B8D4CF"/>
                </a:solidFill>
                <a:latin typeface="Segoe UI"/>
              </a:rPr>
              <a:t>   ·  cinco piezas que trabajan juntas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309360"/>
                <a:gridCol w="2788920"/>
              </a:tblGrid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Pieza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Qué hace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Dónde la ves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El bot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Atiende el 316 las 24 horas: autorización de datos, entiende el pedido con IA, rutea al asesor experto y registra todo.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El cliente lo vive en 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Panel de conversaciones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Ver cada chat como en WhatsApp y, desde ahora, responder tú misma (chat híbrido).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n8n.ardisa.com/monitor/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Seguimiento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La tabla de solicitudes con estados, valores y filtros; exporta a Excel.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…/monitor/seguimiento.php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Vigilante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Revisa el bot cada hora: clientes perdidos, crones caídos, colas atascadas.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Correo a Deicy + panel de WhatsApp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Reportes automáticos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Excel semanal por marca a coordinación; chequeo de duplicados diario.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Correo, lunes 7:00 a.m.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577840"/>
            <a:ext cx="11201400" cy="786384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2700">
            <a:solidFill>
              <a:srgbClr val="E8C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300">
                <a:solidFill>
                  <a:srgbClr val="5B4300"/>
                </a:solidFill>
                <a:latin typeface="Segoe UI"/>
              </a:rPr>
              <a:t>🔒  El panel solo abre desde la red de la oficina (MikroTik) o la VPN. Si no abre desde tu casa, esa es la razón — no es un daño.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Panel de conversaciones</a:t>
            </a:r>
            <a:r>
              <a:rPr sz="1400" b="0">
                <a:solidFill>
                  <a:srgbClr val="B8D4CF"/>
                </a:solidFill>
                <a:latin typeface="Segoe UI"/>
              </a:rPr>
              <a:t>   ·  n8n.ardisa.com/monitor/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82420"/>
                </a:solidFill>
                <a:latin typeface="Segoe UI"/>
              </a:rPr>
              <a:t>Pestañas Clientes / Asesores:  </a:t>
            </a:r>
            <a:r>
              <a:rPr sz="1600" b="0">
                <a:solidFill>
                  <a:srgbClr val="182420"/>
                </a:solidFill>
                <a:latin typeface="Segoe UI"/>
              </a:rPr>
              <a:t>los chats donde los asesores reportan van aparte, para no mezclarlos con los de clientes.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82420"/>
                </a:solidFill>
                <a:latin typeface="Segoe UI"/>
              </a:rPr>
              <a:t>Hoy / Ayer / Todos:  </a:t>
            </a:r>
            <a:r>
              <a:rPr sz="1600" b="0">
                <a:solidFill>
                  <a:srgbClr val="182420"/>
                </a:solidFill>
                <a:latin typeface="Segoe UI"/>
              </a:rPr>
              <a:t>filtro por día. El contador dice cuántos chats hay, cuántos están 🟢 en curso (últimos 30 min) y cuántos tienes 👩‍💼 contigo.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82420"/>
                </a:solidFill>
                <a:latin typeface="Segoe UI"/>
              </a:rPr>
              <a:t>🗑️ Ocultar:  </a:t>
            </a:r>
            <a:r>
              <a:rPr sz="1600" b="0">
                <a:solidFill>
                  <a:srgbClr val="182420"/>
                </a:solidFill>
                <a:latin typeface="Segoe UI"/>
              </a:rPr>
              <a:t>saca un chat de la lista SIN borrar nada (proveedores, spam). Se restaura desde “🗂️ Ver ocultos”.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82420"/>
                </a:solidFill>
                <a:latin typeface="Segoe UI"/>
              </a:rPr>
              <a:t>Fotos, audios y documentos  </a:t>
            </a:r>
            <a:r>
              <a:rPr sz="1600" b="0">
                <a:solidFill>
                  <a:srgbClr val="182420"/>
                </a:solidFill>
                <a:latin typeface="Segoe UI"/>
              </a:rPr>
              <a:t>del cliente se ven dentro del chat.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82420"/>
                </a:solidFill>
                <a:latin typeface="Segoe UI"/>
              </a:rPr>
              <a:t>Actualización automática:  </a:t>
            </a:r>
            <a:r>
              <a:rPr sz="1600" b="0">
                <a:solidFill>
                  <a:srgbClr val="182420"/>
                </a:solidFill>
                <a:latin typeface="Segoe UI"/>
              </a:rPr>
              <a:t>la página se refresca sola cada 15 segundos — pero nunca mientras estés escribiendo una respuesta.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Chat híbrido: atender tú misma</a:t>
            </a:r>
            <a:r>
              <a:rPr sz="1400" b="0">
                <a:solidFill>
                  <a:srgbClr val="B8D4CF"/>
                </a:solidFill>
                <a:latin typeface="Segoe UI"/>
              </a:rPr>
              <a:t>   ·  nuevo desde el 12 de agosto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82420"/>
                </a:solidFill>
                <a:latin typeface="Segoe UI"/>
              </a:rPr>
              <a:t>Puedes responderle a un cliente por el MISMO número del bot, sin salir del panel. Mientras tú atiendes, el bot se calla (no manda menús ni recordatorios) y todo queda grabado en el historial.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ctr"/>
            <a:r>
              <a:rPr sz="1500" b="1">
                <a:solidFill>
                  <a:srgbClr val="0B6C68"/>
                </a:solidFill>
                <a:latin typeface="Segoe UI"/>
              </a:rPr>
              <a:t>1  ·  Abre el chat y toca “👩‍💼 Atender yo”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82420"/>
                </a:solidFill>
                <a:latin typeface="Segoe UI"/>
              </a:rPr>
              <a:t>O simplemente escribe en la caja y envía: tomar la conversación es automático al responder.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2860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ctr"/>
            <a:r>
              <a:rPr sz="1500" b="1">
                <a:solidFill>
                  <a:srgbClr val="0B6C68"/>
                </a:solidFill>
                <a:latin typeface="Segoe UI"/>
              </a:rPr>
              <a:t>2  ·  Escribe en la caja de abajo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82420"/>
                </a:solidFill>
                <a:latin typeface="Segoe UI"/>
              </a:rPr>
              <a:t>Enter envía · Shift+Enter hace salto de línea. Tus mensajes salen con la burbuja azul “👩‍💼 Ardisa (panel)”.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2860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/>
          <a:lstStyle/>
          <a:p>
            <a:pPr algn="ctr"/>
            <a:r>
              <a:rPr sz="1500" b="1">
                <a:solidFill>
                  <a:srgbClr val="0B6C68"/>
                </a:solidFill>
                <a:latin typeface="Segoe UI"/>
              </a:rPr>
              <a:t>3  ·  Al terminar: “🤖 Devolver al bot”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82420"/>
                </a:solidFill>
                <a:latin typeface="Segoe UI"/>
              </a:rPr>
              <a:t>Si se te olvida, el bot retoma solo a los 30 minutos de tu última respuesta.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92040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2700">
            <a:solidFill>
              <a:srgbClr val="E8C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300">
                <a:solidFill>
                  <a:srgbClr val="5B4300"/>
                </a:solidFill>
                <a:latin typeface="Segoe UI"/>
              </a:rPr>
              <a:t>⏰  Regla de WhatsApp (para todos, Claro incluido): solo se puede escribir libre si el cliente escribió hace menos de 24 horas. Si la ventana está cerrada, la caja te lo dice y no deja enviar.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760720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2700">
            <a:solidFill>
              <a:srgbClr val="E8C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300">
                <a:solidFill>
                  <a:srgbClr val="5B4300"/>
                </a:solidFill>
                <a:latin typeface="Segoe UI"/>
              </a:rPr>
              <a:t>⚠️  Mientras un chat esté “contigo”, el bot NO le contesta a ese cliente. Si te llaman a una reunión, devuélveselo al bot — no lo dejes esperando.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Seguimiento de solicitudes</a:t>
            </a:r>
            <a:r>
              <a:rPr sz="1400" b="0">
                <a:solidFill>
                  <a:srgbClr val="B8D4CF"/>
                </a:solidFill>
                <a:latin typeface="Segoe UI"/>
              </a:rPr>
              <a:t>   ·  …/monitor/seguimiento.php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Períodos:  </a:t>
            </a:r>
            <a:r>
              <a:rPr sz="1550" b="0">
                <a:solidFill>
                  <a:srgbClr val="182420"/>
                </a:solidFill>
                <a:latin typeface="Segoe UI"/>
              </a:rPr>
              <a:t>Hoy · Ayer · 7 días · 30 días · Histórico.   </a:t>
            </a:r>
            <a:r>
              <a:rPr sz="1550" b="1">
                <a:solidFill>
                  <a:srgbClr val="182420"/>
                </a:solidFill>
                <a:latin typeface="Segoe UI"/>
              </a:rPr>
              <a:t>Marcas:  </a:t>
            </a:r>
            <a:r>
              <a:rPr sz="1550" b="0">
                <a:solidFill>
                  <a:srgbClr val="182420"/>
                </a:solidFill>
                <a:latin typeface="Segoe UI"/>
              </a:rPr>
              <a:t>Ambas / CyR (Ardisa) / Carpincentro.   </a:t>
            </a:r>
            <a:r>
              <a:rPr sz="1550" b="1">
                <a:solidFill>
                  <a:srgbClr val="182420"/>
                </a:solidFill>
                <a:latin typeface="Segoe UI"/>
              </a:rPr>
              <a:t>Asesor:  </a:t>
            </a:r>
            <a:r>
              <a:rPr sz="1550" b="0">
                <a:solidFill>
                  <a:srgbClr val="182420"/>
                </a:solidFill>
                <a:latin typeface="Segoe UI"/>
              </a:rPr>
              <a:t>lista desplegable.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📅 Fecha de entrada vs. fecha de reporte:  </a:t>
            </a:r>
            <a:r>
              <a:rPr sz="1550" b="0">
                <a:solidFill>
                  <a:srgbClr val="182420"/>
                </a:solidFill>
                <a:latin typeface="Segoe UI"/>
              </a:rPr>
              <a:t>“entrada” = cuándo escribió el cliente; “reporte” = cuándo reportó el asesor. Para responder “¿qué reportaron ayer?”, usa REPORTE.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Paginación:  </a:t>
            </a:r>
            <a:r>
              <a:rPr sz="1550" b="0">
                <a:solidFill>
                  <a:srgbClr val="182420"/>
                </a:solidFill>
                <a:latin typeface="Segoe UI"/>
              </a:rPr>
              <a:t>50 filas por página; abajo dice “Mostrando X–Y de Z” con flechas ‹ › para pasar página.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Exportar:  </a:t>
            </a:r>
            <a:r>
              <a:rPr sz="1550" b="0">
                <a:solidFill>
                  <a:srgbClr val="182420"/>
                </a:solidFill>
                <a:latin typeface="Segoe UI"/>
              </a:rPr>
              <a:t>baja a Excel exactamente lo que el filtro esté mostrando.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Estados:  </a:t>
            </a:r>
            <a:r>
              <a:rPr sz="1550" b="0">
                <a:solidFill>
                  <a:srgbClr val="182420"/>
                </a:solidFill>
                <a:latin typeface="Segoe UI"/>
              </a:rPr>
              <a:t>🏆 Ganado · 📄 Cotización · 🔄 En gestión · Cerrado · Remitido · ❌ Perdido · ⏳ Pendiente (sin reporte del asesor).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Tu panel por WhatsApp</a:t>
            </a:r>
            <a:r>
              <a:rPr sz="1400" b="0">
                <a:solidFill>
                  <a:srgbClr val="B8D4CF"/>
                </a:solidFill>
                <a:latin typeface="Segoe UI"/>
              </a:rPr>
              <a:t>   ·  el 573205662947 no es un cliente para el bot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8720" y="1554480"/>
          <a:ext cx="9784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589520"/>
              </a:tblGrid>
              <a:tr h="777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Le escribes al bot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Recibes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82420"/>
                          </a:solidFill>
                          <a:latin typeface="Segoe UI"/>
                        </a:rPr>
                        <a:t>informe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82420"/>
                          </a:solidFill>
                          <a:latin typeface="Segoe UI"/>
                        </a:rPr>
                        <a:t>El resumen del día: solicitudes, reparto por asesor, pendientes por reportar y alertas de los últimos 7 días.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82420"/>
                          </a:solidFill>
                          <a:latin typeface="Segoe UI"/>
                        </a:rPr>
                        <a:t>demo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82420"/>
                          </a:solidFill>
                          <a:latin typeface="Segoe UI"/>
                        </a:rPr>
                        <a:t>Modo clienta: vives el flujo completo como un cliente real, sin tocar datos reales (para presentaciones).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82420"/>
                          </a:solidFill>
                          <a:latin typeface="Segoe UI"/>
                        </a:rPr>
                        <a:t>hola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82420"/>
                          </a:solidFill>
                          <a:latin typeface="Segoe UI"/>
                        </a:rPr>
                        <a:t>Vuelve al panel (sales del modo demo).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Cómo reportan los asesores</a:t>
            </a:r>
            <a:r>
              <a:rPr sz="1400" b="0">
                <a:solidFill>
                  <a:srgbClr val="B8D4CF"/>
                </a:solidFill>
                <a:latin typeface="Segoe UI"/>
              </a:rPr>
              <a:t>   ·  dos toques, cero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1 · La tarjeta.  </a:t>
            </a:r>
            <a:r>
              <a:rPr sz="1550" b="0">
                <a:solidFill>
                  <a:srgbClr val="182420"/>
                </a:solidFill>
                <a:latin typeface="Segoe UI"/>
              </a:rPr>
              <a:t>Al asesor le llega el cliente completo: nombre, ciudad, perfil, pedido, fotos y el enlace directo al chat, con el botón “📊 Reportar resultado”.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2 · El reporte.  </a:t>
            </a:r>
            <a:r>
              <a:rPr sz="1550" b="0">
                <a:solidFill>
                  <a:srgbClr val="182420"/>
                </a:solidFill>
                <a:latin typeface="Segoe UI"/>
              </a:rPr>
              <a:t>Cuando atiende, toca el botón y elige: Ganado (con valor de venta), Cotización enviada, En gestión, Cerrado o Perdido.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3 · El recordatorio.  </a:t>
            </a:r>
            <a:r>
              <a:rPr sz="1550" b="0">
                <a:solidFill>
                  <a:srgbClr val="182420"/>
                </a:solidFill>
                <a:latin typeface="Segoe UI"/>
              </a:rPr>
              <a:t>Si no reporta, el bot le recuerda una vez al día hábil (agrupado, hasta 5 días). Los reportes llenan solos el seguimiento y el informe semanal.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2700">
            <a:solidFill>
              <a:srgbClr val="E8C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300">
                <a:solidFill>
                  <a:srgbClr val="5B4300"/>
                </a:solidFill>
                <a:latin typeface="Segoe UI"/>
              </a:rPr>
              <a:t>📌  LA REGLA DE ORO: un cliente con solicitud sin reportar que vuelve a escribir SIEMPRE regresa al mismo asesor — lo garantiza la base de datos, no la memoria del 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83480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2700">
            <a:solidFill>
              <a:srgbClr val="E8C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300">
                <a:solidFill>
                  <a:srgbClr val="5B4300"/>
                </a:solidFill>
                <a:latin typeface="Segoe UI"/>
              </a:rPr>
              <a:t>📲  Ventana de 24 h del asesor: para recibir tarjetas y fotos gratis, cada asesor debe escribirle al bot de vez en cuando. Si no lo hace, sus adjuntos se encolan y el vigilante te avisa (cola_adjuntos). Destrabe: que el asesor le mande cualquier mensaje al bot.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Alertas del vigilante</a:t>
            </a:r>
            <a:r>
              <a:rPr sz="1400" b="0">
                <a:solidFill>
                  <a:srgbClr val="B8D4CF"/>
                </a:solidFill>
                <a:latin typeface="Segoe UI"/>
              </a:rPr>
              <a:t>   ·  corre cada hora · graves por correo · todas en tu «informe»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7572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5212080"/>
                <a:gridCol w="4114800"/>
              </a:tblGrid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Alerta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Qué significa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Qué haces tú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cliente_perdido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Alguien escribió con intención real y no quedó registrado.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Ábrelo en el panel; si es venta, regístralo o pásaselo a un asesor.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carrera_consent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El muro de autorización se repitió tras un “Sí, autorizo”. Severidad 3 = grave; severidad 2 = el freno funcionó y el cliente igual quedó registrado.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Solo la severidad 3 exige revisar el chat.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reporte_perdido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Un asesor recibió “¡Registrado!” pero su reporte no quedó en la base.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Confírmalo en seguimiento y pide reenviar el reporte.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cola_adjuntos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Fotos/audios llevan más de 6 h esperando a un asesor con la ventana cerrada.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Que el asesor le escriba al bot: la cola sale sola en 2 min.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sin_reportar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Un asesor acumula 5+ solicitudes sin reporte de más de 10 días.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Conversación de gestión con ese asesor.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cron_caido / token_n8n / sesiones_inertes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Una pieza técnica dejó de funcionar o está por vencer.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420"/>
                          </a:solidFill>
                          <a:latin typeface="Segoe UI"/>
                        </a:rPr>
                        <a:t>Avisa a soporte técnico.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Correos automáticos</a:t>
            </a:r>
            <a:r>
              <a:rPr sz="1400" b="0">
                <a:solidFill>
                  <a:srgbClr val="B8D4CF"/>
                </a:solidFill>
                <a:latin typeface="Segoe UI"/>
              </a:rPr>
              <a:t>   ·  salen desde noreply@ardisa.com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286000"/>
                <a:gridCol w="438912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Correo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Cuándo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 quién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Reporte semanal Ardisa (Excel)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Lunes 7:00 a.m.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Nancy, Paola, María Camila (+ copia oculta a Deicy)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Reporte semanal Carpincentro (Excel)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Lunes 7:00 a.m.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Paola, María Camila (+ copia oculta a Deicy)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Alerta de leads duplicados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Cuando aparecen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Solo Deicy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Alertas graves del vigilante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Cuando aparecen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420"/>
                          </a:solidFill>
                          <a:latin typeface="Segoe UI"/>
                        </a:rPr>
                        <a:t>Solo Deicy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572000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2700">
            <a:solidFill>
              <a:srgbClr val="E8C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300">
                <a:solidFill>
                  <a:srgbClr val="5B4300"/>
                </a:solidFill>
                <a:latin typeface="Segoe UI"/>
              </a:rPr>
              <a:t>📬  Si un lunes no llega el Excel: revisa spam primero; si no está, es alerta de cron_caido — avisa a soporte.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Fase 2: la IA y SAP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Ya en producción:  </a:t>
            </a:r>
            <a:r>
              <a:rPr sz="1550" b="0">
                <a:solidFill>
                  <a:srgbClr val="182420"/>
                </a:solidFill>
                <a:latin typeface="Segoe UI"/>
              </a:rPr>
              <a:t>la IA entiende texto libre y fotos (identifica producto y línea) y solo pregunta lo que falta. Los filtros también son inteligentes: proveedores (español e inglés), reclamos → Servicio al Cliente, empleo → canal correcto.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Cotización con SAP (piloto):  </a:t>
            </a:r>
            <a:r>
              <a:rPr sz="1550" b="0">
                <a:solidFill>
                  <a:srgbClr val="182420"/>
                </a:solidFill>
                <a:latin typeface="Segoe UI"/>
              </a:rPr>
              <a:t>el bot podrá consultar inventario y disponibilidad directo en SAP. Arranca SIN precios (decisión del 11 de agosto) y solo para números de prueba, con el interruptor usar_cotiza — se prende sin tocar el bot.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182420"/>
                </a:solidFill>
                <a:latin typeface="Segoe UI"/>
              </a:rPr>
              <a:t>Falta solo una cosa:  </a:t>
            </a:r>
            <a:r>
              <a:rPr sz="1550" b="0">
                <a:solidFill>
                  <a:srgbClr val="182420"/>
                </a:solidFill>
                <a:latin typeface="Segoe UI"/>
              </a:rPr>
              <a:t>el token de acceso del servidor SAP (lo entrega el equipo del MCP). Con eso se prende el piloto.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9264"/>
          </a:xfrm>
          <a:prstGeom prst="roundRect">
            <a:avLst>
              <a:gd name="adj" fmla="val 6000"/>
            </a:avLst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22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C05C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424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Si algo falla</a:t>
            </a:r>
            <a:r>
              <a:rPr sz="1400" b="0">
                <a:solidFill>
                  <a:srgbClr val="B8D4CF"/>
                </a:solidFill>
                <a:latin typeface="Segoe UI"/>
              </a:rPr>
              <a:t>   ·  primero lo simple; casi nunca es grave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7572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572000"/>
                <a:gridCol w="4069080"/>
              </a:tblGrid>
              <a:tr h="71323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Síntoma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Primero revisa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Si sigue</a:t>
                      </a:r>
                    </a:p>
                  </a:txBody>
                  <a:tcPr marL="73152" marR="73152" marT="27432" marB="27432" anchor="ctr">
                    <a:solidFill>
                      <a:srgbClr val="0E2A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El bot no responde a nadie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¿El workflow está activo? n8n.ardisa.com → workflow del bot → interruptor “Active”.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Avisa a soporte. Meta reintenta los mensajes: al volver, el bot los atiende.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El bot responde raro a UN cliente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Ábrelo en el panel y toca “👩‍💼 Atender yo”: tú atiendes y el bot se calla.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Reporta el caso con el pantallazo, como siempre.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El panel no abre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¿Estás en la red de la oficina o la VPN?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Soporte técnico.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Un asesor no recibe tarjetas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Que el asesor le escriba cualquier cosa al bot (ventana de 24 h cerrada).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Revisa la alerta cola_adjuntos.</a:t>
                      </a:r>
                    </a:p>
                  </a:txBody>
                  <a:tcPr marL="73152" marR="73152" marT="27432" marB="27432" anchor="ctr">
                    <a:solidFill>
                      <a:srgbClr val="EFF4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No llegó el Excel del lunes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Carpeta de spam.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420"/>
                          </a:solidFill>
                          <a:latin typeface="Segoe UI"/>
                        </a:rPr>
                        <a:t>Alerta cron_caido + soporte.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5623560"/>
            <a:ext cx="11475720" cy="786384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2700">
            <a:solidFill>
              <a:srgbClr val="E8C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/>
          <a:lstStyle/>
          <a:p>
            <a:pPr algn="ctr"/>
            <a:r>
              <a:rPr sz="1300">
                <a:solidFill>
                  <a:srgbClr val="5B4300"/>
                </a:solidFill>
                <a:latin typeface="Segoe UI"/>
              </a:rPr>
              <a:t>🛡️  Respaldo: todas las madrugadas (2:30 a.m.) se respalda la base completa y el bot; se guardan 14 días. Nada se pierde aunque el servidor falle.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4665C"/>
                </a:solidFill>
                <a:latin typeface="Segoe UI"/>
              </a:rPr>
              <a:t>Manual de usuario v2 · Bot WhatsApp Grupo Ardisa · agosto 2026</a:t>
            </a:r>
            <a:r>
              <a:rPr sz="1000" b="1">
                <a:solidFill>
                  <a:srgbClr val="54665C"/>
                </a:solidFill>
                <a:latin typeface="Segoe UI"/>
              </a:rPr>
              <a:t>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Un asesor que nunca duerme —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F2C05C"/>
                </a:solidFill>
                <a:latin typeface="Segoe UI"/>
              </a:rPr>
              <a:t>y un equipo que nunca pierde un cliente.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062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AD5"/>
                </a:solidFill>
                <a:latin typeface="Segoe UI"/>
              </a:rPr>
              <a:t>Manual de usuario v2 · Grupo Ardisa · agosto de 2026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FA8A2"/>
                </a:solidFill>
                <a:latin typeface="Segoe UI"/>
              </a:rPr>
              <a:t>El manual técnico (desarrolladores) es aparte: docs/RUNBOOK.md en el repositorio.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