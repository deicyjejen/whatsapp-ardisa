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63840" y="1005840"/>
            <a:ext cx="4480560" cy="3108960"/>
          </a:xfrm>
          <a:prstGeom prst="roundRect">
            <a:avLst>
              <a:gd name="adj" fmla="val 18000"/>
            </a:avLst>
          </a:prstGeom>
          <a:solidFill>
            <a:srgbClr val="14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223760" y="3291840"/>
            <a:ext cx="3108960" cy="2011680"/>
          </a:xfrm>
          <a:prstGeom prst="roundRect">
            <a:avLst>
              <a:gd name="adj" fmla="val 22000"/>
            </a:avLst>
          </a:prstGeom>
          <a:solidFill>
            <a:srgbClr val="1B3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5074920"/>
            <a:ext cx="457200" cy="457200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0" y="1554480"/>
            <a:ext cx="44805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0">
                <a:solidFill>
                  <a:srgbClr val="FFFFFF"/>
                </a:solidFill>
                <a:latin typeface="Segoe U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37033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BED4CE"/>
                </a:solidFill>
                <a:latin typeface="Segoe UI"/>
              </a:rPr>
              <a:t>«Hola, necesito 30
bultos de cemento»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99B3F"/>
                </a:solidFill>
                <a:latin typeface="Segoe UI"/>
              </a:rPr>
              <a:t>G R U P O   A R D I S A   ·   L Í N E A   3 1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91640"/>
            <a:ext cx="7223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700" b="1">
                <a:solidFill>
                  <a:srgbClr val="FFFFFF"/>
                </a:solidFill>
                <a:latin typeface="Segoe UI"/>
              </a:rPr>
              <a:t>Manual de usuario</a:t>
            </a:r>
          </a:p>
          <a:p>
            <a:pPr algn="l">
              <a:spcAft>
                <a:spcPts val="0"/>
              </a:spcAft>
            </a:pPr>
            <a:r>
              <a:rPr sz="4700" b="1">
                <a:solidFill>
                  <a:srgbClr val="C99B3F"/>
                </a:solidFill>
                <a:latin typeface="Segoe UI"/>
              </a:rPr>
              <a:t>del bot y su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703320"/>
            <a:ext cx="1828800" cy="45720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77639"/>
            <a:ext cx="6126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9DAD5"/>
                </a:solidFill>
                <a:latin typeface="Segoe UI"/>
              </a:rPr>
              <a:t>Versión 2 · agosto de 2026. El bot con inteligencia artificial (Fase 1 + 2), el panel de conversaciones, el seguimiento de solicitudes, las alertas del vigilante y qué hacer cuando algo falla.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A8A2"/>
                </a:solidFill>
                <a:latin typeface="Segoe UI"/>
              </a:rPr>
              <a:t>Para el equipo de coordinación · Reemplaza el manual de la Fase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Contenido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0195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92938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El sistema en un mapa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78308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190195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92938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Panel de conversaciones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5176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7063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79806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Chat híbrido (instalado, apagado)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65176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77063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79806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Seguimiento de solicitudes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20439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39311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666743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Tu panel por WhatsApp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520439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1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666743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Cómo reportan los asesores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38912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450799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453542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Alertas del vigilante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38912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450799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53542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Correos automáticos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537667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40410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Fase 2: la IA y SAP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525780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6248" y="537667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540410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Si algo falla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El sistema en un mapa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cinco piezas que trabajan juntas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645920"/>
          <a:ext cx="11018520" cy="4059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035040"/>
                <a:gridCol w="2834640"/>
              </a:tblGrid>
              <a:tr h="676655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Pieza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Qué hace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Dónde la ves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</a:tr>
              <a:tr h="67665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El bot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Atiende el 316 las 24 horas: autorización de datos, entiende el pedido con IA, rutea al asesor experto y registra todo.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El cliente lo vive en WhatsApp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7665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Panel de conversaciones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Cada chat como en WhatsApp: texto, fotos, audios y documentos.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n8n.ardisa.com/monitor/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7665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Seguimiento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La tabla de solicitudes con estados, valores y filtros; exporta a Excel.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…/monitor/seguimiento.php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7665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Vigilante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Revisa el bot cada hora: clientes perdidos, crones caídos, colas atascadas.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Correo a Deicy + panel de WhatsApp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766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Reportes automáticos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Excel semanal por marca a coordinación; chequeo de duplicados diario.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Correo, lunes 7:00 a.m.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5623560"/>
            <a:ext cx="11018520" cy="64008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🔒   El panel solo abre desde la red de la oficina (MikroTik) o la VPN. Si no abre desde tu casa, esa es la razón — no es un daño.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Panel de conversaciones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n8n.ardisa.com/monitor/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7739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Clientes y asesores, separados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17739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Los chats donde los asesores reportan van en su propia pestaña, sin mezclarse con los clientes.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060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614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883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Hoy · Ayer · Todos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883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El contador dice cuántos chats hay y cuántos están 🟢 en curso (actividad en los últimos 30 minutos).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🗑️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6027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Ocultar sin borrar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6027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Saca de la lista el spam o los proveedores; los mensajes quedan intactos y se restauran desde «Ver ocultos».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4348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902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5171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Todo se 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5171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Fotos, audios, videos y documentos del cliente, dentro del chat, como en WhatsApp.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3492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046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54315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Se actualiza sola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315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La página se refresca cada 15 segundos, sin que tengas que hacer nada.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Chat híbrido: responder desde el panel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75320" y="475488"/>
            <a:ext cx="3310128" cy="384048"/>
          </a:xfrm>
          <a:prstGeom prst="roundRect">
            <a:avLst>
              <a:gd name="adj" fmla="val 50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57616" y="525780"/>
            <a:ext cx="3200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5B4300"/>
                </a:solidFill>
                <a:latin typeface="Segoe UI"/>
              </a:rPr>
              <a:t>INSTALADO · APAGADO POR AHORA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00200"/>
            <a:ext cx="4160520" cy="4480560"/>
          </a:xfrm>
          <a:prstGeom prst="roundRect">
            <a:avLst>
              <a:gd name="adj" fmla="val 7000"/>
            </a:avLst>
          </a:prstGeom>
          <a:solidFill>
            <a:srgbClr val="EAF0E6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28800"/>
            <a:ext cx="3017520" cy="70865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00584"/>
          <a:lstStyle/>
          <a:p>
            <a:pPr algn="ctr"/>
            <a:r>
              <a:rPr sz="850" b="1">
                <a:solidFill>
                  <a:srgbClr val="0B5D74"/>
                </a:solidFill>
                <a:latin typeface="Segoe UI"/>
              </a:rPr>
              <a:t>Cliente
</a:t>
            </a:r>
            <a:r>
              <a:rPr sz="1050">
                <a:solidFill>
                  <a:srgbClr val="182420"/>
                </a:solidFill>
                <a:latin typeface="Segoe UI"/>
              </a:rPr>
              <a:t>Buenas, ¿me confirmas el despacho de mi pedido?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2619756"/>
            <a:ext cx="3108960" cy="708659"/>
          </a:xfrm>
          <a:prstGeom prst="roundRect">
            <a:avLst>
              <a:gd name="adj" fmla="val 16000"/>
            </a:avLst>
          </a:prstGeom>
          <a:solidFill>
            <a:srgbClr val="D8F2D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00584"/>
          <a:lstStyle/>
          <a:p>
            <a:pPr algn="ctr"/>
            <a:r>
              <a:rPr sz="850" b="1">
                <a:solidFill>
                  <a:srgbClr val="0A6B3C"/>
                </a:solidFill>
                <a:latin typeface="Segoe UI"/>
              </a:rPr>
              <a:t>🤖 Bot
</a:t>
            </a:r>
            <a:r>
              <a:rPr sz="1050">
                <a:solidFill>
                  <a:srgbClr val="182420"/>
                </a:solidFill>
                <a:latin typeface="Segoe UI"/>
              </a:rPr>
              <a:t>Tu solicitud ya está en gestión con nuestra asesora. 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3410711"/>
            <a:ext cx="3108960" cy="708659"/>
          </a:xfrm>
          <a:prstGeom prst="roundRect">
            <a:avLst>
              <a:gd name="adj" fmla="val 16000"/>
            </a:avLst>
          </a:prstGeom>
          <a:solidFill>
            <a:srgbClr val="CDEBF7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00584"/>
          <a:lstStyle/>
          <a:p>
            <a:pPr algn="ctr"/>
            <a:r>
              <a:rPr sz="850" b="1">
                <a:solidFill>
                  <a:srgbClr val="0B5D74"/>
                </a:solidFill>
                <a:latin typeface="Segoe UI"/>
              </a:rPr>
              <a:t>👩‍💼 Ardisa (panel)
</a:t>
            </a:r>
            <a:r>
              <a:rPr sz="1050">
                <a:solidFill>
                  <a:srgbClr val="182420"/>
                </a:solidFill>
                <a:latin typeface="Segoe UI"/>
              </a:rPr>
              <a:t>¡Hola! Te confirmo: tu pedido sale hoy en la tarde. 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486400"/>
            <a:ext cx="32004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5541264"/>
            <a:ext cx="2651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5C6E63"/>
                </a:solidFill>
                <a:latin typeface="Segoe UI"/>
              </a:rPr>
              <a:t>Escribe una respuesta…</a:t>
            </a:r>
          </a:p>
        </p:txBody>
      </p:sp>
      <p:sp>
        <p:nvSpPr>
          <p:cNvPr id="14" name="Oval 13"/>
          <p:cNvSpPr/>
          <p:nvPr/>
        </p:nvSpPr>
        <p:spPr>
          <a:xfrm>
            <a:off x="4133087" y="5486400"/>
            <a:ext cx="402336" cy="402336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5527548"/>
            <a:ext cx="365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1691640"/>
            <a:ext cx="6355080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40680" y="1975104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7830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Tomas la conversación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112264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C6E63"/>
                </a:solidFill>
                <a:latin typeface="Segoe UI"/>
              </a:rPr>
              <a:t>Botón «👩‍💼 Atender yo» (o simplemente respondes). El bot se calla para ESE cliente; los demás siguen normal.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2807208"/>
            <a:ext cx="6355080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40680" y="3090672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898648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Escribes por el número del 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227832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C6E63"/>
                </a:solidFill>
                <a:latin typeface="Segoe UI"/>
              </a:rPr>
              <a:t>Enter envía. Tu burbuja sale azul, «Ardisa (panel)», y todo queda en el historial.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80" y="3922776"/>
            <a:ext cx="6355080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40680" y="4206240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014215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Devuelves al 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4343400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C6E63"/>
                </a:solidFill>
                <a:latin typeface="Segoe UI"/>
              </a:rPr>
              <a:t>Botón «🤖 Devolver al bot», o el bot retoma solo a los 30 minutos de tu última respuesta.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12080" y="5120640"/>
            <a:ext cx="6355080" cy="96012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💡   Está apagado por decisión de coordinación (12-ago). Prenderlo cuando se decida toma un minuto: todo el motor ya está construido y probado. Regla de WhatsApp: solo se puede escribir libre si el cliente escribió hace &lt;24 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Seguimiento de solicitudes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…/monitor/seguimiento.php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🗂️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7739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Filtros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17739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Hoy · Ayer · 7 días · 30 días · Histórico — por marca (Ambas / CyR / Carpincentro) y por asesor.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060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614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883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Dos fechas, dos preguntas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883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«Fecha de entrada» = cuándo escribió el cliente. «Fecha de reporte» = cuándo reportó el asesor. Para «¿qué reportaron ayer?», usa REPORTE.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6027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10 por página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6027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La tabla muestra 10 solicitudes por página (puedes cambiar a 25, 50 o 100) con flechas ‹ › para pasar.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4348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902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⬇️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5171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Exportar a Excel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5171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Baja exactamente lo que el filtro esté mostrando.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3492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046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54315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Estados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315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🏆 Ganado · 📄 Cotización · 🔄 En gestión · Cerrado · Remitido · ❌ Perdido · ⏳ Pendiente (sin reporte).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Tu panel por WhatsApp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el 573205662947 no es un cliente para el 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92024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0E2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5798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9B3F"/>
                </a:solidFill>
                <a:latin typeface="Segoe UI"/>
              </a:rPr>
              <a:t>informe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920240"/>
            <a:ext cx="7680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2048256"/>
            <a:ext cx="72237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82420"/>
                </a:solidFill>
                <a:latin typeface="Segoe UI"/>
              </a:rPr>
              <a:t>El resumen del día: solicitudes, reparto por asesor, pendientes por reportar y las alertas de los últimos 7 días.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10896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0E2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34670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9B3F"/>
                </a:solidFill>
                <a:latin typeface="Segoe UI"/>
              </a:rPr>
              <a:t>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108960"/>
            <a:ext cx="7680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3236976"/>
            <a:ext cx="72237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82420"/>
                </a:solidFill>
                <a:latin typeface="Segoe UI"/>
              </a:rPr>
              <a:t>Modo clienta: vives el flujo completo como un cliente real, sin tocar datos reales. Ideal para presentaciones.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29768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0E2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3542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9B3F"/>
                </a:solidFill>
                <a:latin typeface="Segoe UI"/>
              </a:rPr>
              <a:t>hola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4297680"/>
            <a:ext cx="7680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4425696"/>
            <a:ext cx="72237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82420"/>
                </a:solidFill>
                <a:latin typeface="Segoe UI"/>
              </a:rPr>
              <a:t>Vuelve al panel (sales del modo demo).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Cómo reportan los asesores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dos toques, cero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352044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901952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202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2A3B"/>
                </a:solidFill>
                <a:latin typeface="Segoe UI"/>
              </a:rPr>
              <a:t>La tarjeta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395728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Le llega el cliente completo: nombre, ciudad, perfil, pedido, fotos y el enlace directo al chat, con el botón «📊 Reportar resultado».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52044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01952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19202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2A3B"/>
                </a:solidFill>
                <a:latin typeface="Segoe UI"/>
              </a:rPr>
              <a:t>El reporte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95728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Toca el botón y elige: Ganado (con valor), Cotización enviada, En gestión, Cerrado o Perdido.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52044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1901952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9202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2A3B"/>
                </a:solidFill>
                <a:latin typeface="Segoe UI"/>
              </a:rPr>
              <a:t>El recordatorio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1" y="2395728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Si no reporta, el bot le recuerda una vez al día hábil (agrupado, hasta 5 días).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0835640" cy="68580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📌   LA REGLA DE ORO — un cliente con solicitud sin reportar que vuelve a escribir SIEMPRE regresa al mismo asesor. Lo garantiza la base de datos, no la memoria del bot.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846320"/>
            <a:ext cx="10835640" cy="86868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📲   Ventana de 24 h del asesor: para recibir tarjetas y fotos gratis, debe escribirle al bot de vez en cuando. Si algo se le queda esperando más de 6 horas, el bot LE AVISA SOLO con una plantilla — tocar el botón lo destraba (nuevo, 12-ago).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Alertas del vigilante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corre cada hora · graves por correo · todas en tu «informe»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00200"/>
          <a:ext cx="112014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074920"/>
                <a:gridCol w="3840480"/>
              </a:tblGrid>
              <a:tr h="7132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Alerta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Qué significa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Qué haces tú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cliente_perdido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Alguien escribió con intención real y no quedó registrado.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Ábrelo en el panel; si es venta, regístralo o pásaselo a un asesor.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carrera_consent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El muro de autorización se repitió tras un «Sí, autorizo». Sev. 3 = grave; sev. 2 = el freno funcionó y el cliente quedó registrado.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Solo la severidad 3 exige revisar el chat.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reporte_perdido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Un asesor recibió «¡Registrado!» pero su reporte no quedó en la base.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Confírmalo en seguimiento y pide reenviar el reporte.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cola_adjuntos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Fotos/audios llevan más de 6 h esperando a un asesor con la ventana cerrada.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El bot ya le avisó solo al asesor; si persiste al otro día, recuérdaselo tú.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sin_reportar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Un asesor acumula 5+ solicitudes sin reporte de más de 10 días.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Conversación de gestión con ese asesor.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cron_caido · token_n8n · sesiones_inertes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Una pieza técnica dejó de funcionar o está por vencer.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Avisa a soporte técnico.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Correos automáticos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salen desde noreply@ardisa.com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91640"/>
          <a:ext cx="108356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286000"/>
                <a:gridCol w="4389120"/>
              </a:tblGrid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Correo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Cuándo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A quién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Reporte semanal Ardisa (Excel)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Lunes 7:00 a.m.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Nancy, Paola, María Camila (+ copia oculta a Deicy)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Reporte semanal Carpincentro (Excel)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Lunes 7:00 a.m.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Paola, María Camila (+ copia oculta a Deicy)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Alerta de leads duplicados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Cuando aparecen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Solo Deicy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Alertas graves del vigilante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Cuando aparecen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Solo Deicy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5029200"/>
            <a:ext cx="10835640" cy="64008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📬   Si un lunes no llega el Excel: revisa spam primero; si no está, es alerta de cron_caido — avisa a soporte.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Fase 2: la IA y SAP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106070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109728" cy="1325880"/>
          </a:xfrm>
          <a:prstGeom prst="roundRect">
            <a:avLst>
              <a:gd name="adj" fmla="val 50000"/>
            </a:avLst>
          </a:prstGeom>
          <a:solidFill>
            <a:srgbClr val="0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856231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A6B3C"/>
                </a:solidFill>
                <a:latin typeface="Segoe UI"/>
              </a:rPr>
              <a:t>✅  Ya en producción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67712"/>
            <a:ext cx="9966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182420"/>
                </a:solidFill>
                <a:latin typeface="Segoe UI"/>
              </a:rPr>
              <a:t>La IA entiende texto libre y fotos: identifica el producto y la línea, y solo pregunta lo que falta. Los filtros también son inteligentes: proveedores (español e inglés), reclamos → Servicio al Cliente, empleo → canal correcto.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55263"/>
            <a:ext cx="106070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255263"/>
            <a:ext cx="109728" cy="1325880"/>
          </a:xfrm>
          <a:prstGeom prst="roundRect">
            <a:avLst>
              <a:gd name="adj" fmla="val 50000"/>
            </a:avLst>
          </a:prstGeom>
          <a:solidFill>
            <a:srgbClr val="9A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74135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9A6E10"/>
                </a:solidFill>
                <a:latin typeface="Segoe UI"/>
              </a:rPr>
              <a:t>🧪  Cotización con SAP (piloto)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9966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182420"/>
                </a:solidFill>
                <a:latin typeface="Segoe UI"/>
              </a:rPr>
              <a:t>El bot podrá consultar inventario y disponibilidad directo en SAP. Arranca SIN precios (decisión del 11-ago) y solo para números de prueba, con el interruptor usar_cotiza — se prende sin tocar el bot.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773168"/>
            <a:ext cx="106070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773168"/>
            <a:ext cx="109728" cy="1325880"/>
          </a:xfrm>
          <a:prstGeom prst="roundRect">
            <a:avLst>
              <a:gd name="adj" fmla="val 50000"/>
            </a:avLst>
          </a:prstGeom>
          <a:solidFill>
            <a:srgbClr val="0E2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8920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2A3B"/>
                </a:solidFill>
                <a:latin typeface="Segoe UI"/>
              </a:rPr>
              <a:t>⏳  Falta solo una cosa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303520"/>
            <a:ext cx="9966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182420"/>
                </a:solidFill>
                <a:latin typeface="Segoe UI"/>
              </a:rPr>
              <a:t>El token de acceso del servidor SAP (lo entrega el equipo del MCP). Con eso se prende el piloto.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0" y="-502920"/>
            <a:ext cx="2651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0" b="1">
                <a:solidFill>
                  <a:srgbClr val="E4EBE2"/>
                </a:solidFill>
                <a:latin typeface="Segoe U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Si algo falla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primero lo simple; casi nunca es grave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00200"/>
          <a:ext cx="1120139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480560"/>
                <a:gridCol w="3977639"/>
              </a:tblGrid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Síntoma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Primero revisa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Si sigue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El bot no responde a nadie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¿El workflow está activo? n8n.ardisa.com → workflow del bot → interruptor «Active».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Avisa a soporte. Meta reintenta los mensajes: al volver, el bot los atiende.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El bot responde raro a UN cliente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Ábrelo en el panel y revisa la conversación completa.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Reporta el caso con el pantallazo, como siempre.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El panel no abre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¿Estás en la red de la oficina o la VPN?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Soporte técnico.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Un asesor no recibe tarjetas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El bot ya le avisa solo; que responda cualquier cosa al bot (ventana 24 h).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Revisa la alerta cola_adjuntos.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No llegó el Excel del lunes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Carpeta de spam.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Alerta cron_caido + soporte.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669280"/>
            <a:ext cx="11201400" cy="64008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🛡️   Respaldo: todas las madrugadas (2:30 a.m.) se respalda la base completa y el bot; se guardan 14 días. Nada se pierde aunque el servidor falle.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0" y="4023360"/>
            <a:ext cx="3017520" cy="2103120"/>
          </a:xfrm>
          <a:prstGeom prst="roundRect">
            <a:avLst>
              <a:gd name="adj" fmla="val 20000"/>
            </a:avLst>
          </a:prstGeom>
          <a:solidFill>
            <a:srgbClr val="14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5806440"/>
            <a:ext cx="365760" cy="365760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4617720"/>
            <a:ext cx="3017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0">
                <a:solidFill>
                  <a:srgbClr val="FFFFFF"/>
                </a:solidFill>
                <a:latin typeface="Segoe UI"/>
              </a:rPr>
              <a:t>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148840"/>
            <a:ext cx="1828800" cy="45720"/>
          </a:xfrm>
          <a:prstGeom prst="roundRect">
            <a:avLst>
              <a:gd name="adj" fmla="val 50000"/>
            </a:avLst>
          </a:prstGeom>
          <a:solidFill>
            <a:srgbClr val="C9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Un asesor que nunca duerme —</a:t>
            </a:r>
          </a:p>
          <a:p>
            <a:pPr algn="l">
              <a:spcAft>
                <a:spcPts val="200"/>
              </a:spcAft>
            </a:pPr>
            <a:r>
              <a:rPr sz="3600" b="1">
                <a:solidFill>
                  <a:srgbClr val="C99B3F"/>
                </a:solidFill>
                <a:latin typeface="Segoe UI"/>
              </a:rPr>
              <a:t>y un equipo que nunca pierde un cliente.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43400"/>
            <a:ext cx="7498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9DAD5"/>
                </a:solidFill>
                <a:latin typeface="Segoe UI"/>
              </a:rPr>
              <a:t>Manual de usuario v2 · Grupo Ardisa · agosto de 2026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A8A2"/>
                </a:solidFill>
                <a:latin typeface="Segoe UI"/>
              </a:rPr>
              <a:t>El manual técnico (desarrolladores) es aparte: docs/RUNBOOK.md en el repositorio.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